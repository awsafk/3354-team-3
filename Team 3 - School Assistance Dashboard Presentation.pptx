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Poppins"/>
      <p:regular r:id="rId36"/>
      <p:bold r:id="rId37"/>
      <p:italic r:id="rId38"/>
      <p:boldItalic r:id="rId39"/>
    </p:embeddedFont>
    <p:embeddedFont>
      <p:font typeface="Urbanist Medium"/>
      <p:regular r:id="rId40"/>
      <p:bold r:id="rId41"/>
      <p:italic r:id="rId42"/>
      <p:boldItalic r:id="rId43"/>
    </p:embeddedFont>
    <p:embeddedFont>
      <p:font typeface="Urbanist"/>
      <p:regular r:id="rId44"/>
      <p:bold r:id="rId45"/>
      <p:italic r:id="rId46"/>
      <p:boldItalic r:id="rId47"/>
    </p:embeddedFont>
    <p:embeddedFont>
      <p:font typeface="Poppins SemiBold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regular.fntdata"/><Relationship Id="rId42" Type="http://schemas.openxmlformats.org/officeDocument/2006/relationships/font" Target="fonts/UrbanistMedium-italic.fntdata"/><Relationship Id="rId41" Type="http://schemas.openxmlformats.org/officeDocument/2006/relationships/font" Target="fonts/UrbanistMedium-bold.fntdata"/><Relationship Id="rId44" Type="http://schemas.openxmlformats.org/officeDocument/2006/relationships/font" Target="fonts/Urbanist-regular.fntdata"/><Relationship Id="rId43" Type="http://schemas.openxmlformats.org/officeDocument/2006/relationships/font" Target="fonts/UrbanistMedium-boldItalic.fntdata"/><Relationship Id="rId46" Type="http://schemas.openxmlformats.org/officeDocument/2006/relationships/font" Target="fonts/Urbanist-italic.fntdata"/><Relationship Id="rId45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SemiBold-regular.fntdata"/><Relationship Id="rId47" Type="http://schemas.openxmlformats.org/officeDocument/2006/relationships/font" Target="fonts/Urbanist-boldItalic.fntdata"/><Relationship Id="rId49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Poppins-bold.fntdata"/><Relationship Id="rId36" Type="http://schemas.openxmlformats.org/officeDocument/2006/relationships/font" Target="fonts/Poppins-regular.fntdata"/><Relationship Id="rId39" Type="http://schemas.openxmlformats.org/officeDocument/2006/relationships/font" Target="fonts/Poppins-boldItalic.fntdata"/><Relationship Id="rId38" Type="http://schemas.openxmlformats.org/officeDocument/2006/relationships/font" Target="fonts/Poppins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boldItalic.fntdata"/><Relationship Id="rId5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9ccc77c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9ccc77c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58b0fc5dc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58b0fc5dc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99ccc77ce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99ccc77ce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9ccc77ce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99ccc77ce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99ccc77cea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99ccc77cea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99ccc77cea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99ccc77cea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58b0fc5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a58b0fc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58b0fc5d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58b0fc5d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99ccc77cea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99ccc77cea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58b0fc5dc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58b0fc5dc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58b0fc5dc_13_3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a58b0fc5dc_13_3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58b0fc5dc_13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a58b0fc5dc_13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a58b0fc5dc_13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a58b0fc5dc_13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58b0fc5dc_13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a58b0fc5dc_13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a58b0fc5dc_13_2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a58b0fc5dc_13_2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58b0fc5dc_13_2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a58b0fc5dc_13_2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99ccc77cea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99ccc77cea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99ccc77ce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99ccc77ce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99ccc77cea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99ccc77cea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99ccc77cea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99ccc77cea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a58b0fc5dc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a58b0fc5dc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99ccc77cea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99ccc77cea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58b0fc5dc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a58b0fc5dc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a58b0fc5dc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a58b0fc5dc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99ccc77cea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99ccc77cea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58b0fc5dc_4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a58b0fc5dc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99ccc77cea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99ccc77cea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58b0fc5dc_4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a58b0fc5dc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99ccc77cea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99ccc77cea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99ccc77cea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99ccc77cea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252231"/>
            <a:ext cx="5622600" cy="4514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School Assistance Dashboard</a:t>
            </a:r>
            <a:br>
              <a:rPr lang="en" sz="4400"/>
            </a:br>
            <a:endParaRPr sz="1400"/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CCCCCC"/>
                </a:solidFill>
              </a:rPr>
              <a:t>Made by: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Hosanna Pyles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Thomas Ewing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Saulo Contreras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Awsaf Ahmad Kabir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Faiz Khan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Govind Rangappa</a:t>
            </a:r>
            <a:endParaRPr sz="2600">
              <a:solidFill>
                <a:srgbClr val="CCCCCC"/>
              </a:solidFill>
            </a:endParaRPr>
          </a:p>
          <a:p>
            <a:pPr indent="-222250" lvl="0" marL="17145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600"/>
              <a:buChar char="●"/>
            </a:pPr>
            <a:r>
              <a:rPr lang="en" sz="2600">
                <a:solidFill>
                  <a:srgbClr val="CCCCCC"/>
                </a:solidFill>
              </a:rPr>
              <a:t>Joshua John</a:t>
            </a:r>
            <a:endParaRPr sz="26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5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Project Objectives</a:t>
            </a:r>
            <a:endParaRPr/>
          </a:p>
        </p:txBody>
      </p:sp>
      <p:sp>
        <p:nvSpPr>
          <p:cNvPr id="579" name="Google Shape;579;p55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Cost Estimation</a:t>
            </a:r>
            <a:endParaRPr/>
          </a:p>
        </p:txBody>
      </p:sp>
      <p:sp>
        <p:nvSpPr>
          <p:cNvPr id="580" name="Google Shape;580;p55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</a:t>
            </a:r>
            <a:r>
              <a:rPr lang="en"/>
              <a:t>Project Timeline</a:t>
            </a:r>
            <a:endParaRPr/>
          </a:p>
        </p:txBody>
      </p:sp>
      <p:sp>
        <p:nvSpPr>
          <p:cNvPr id="581" name="Google Shape;581;p55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04. </a:t>
            </a:r>
            <a:r>
              <a:rPr lang="en"/>
              <a:t>Requirements</a:t>
            </a:r>
            <a:endParaRPr/>
          </a:p>
        </p:txBody>
      </p:sp>
      <p:sp>
        <p:nvSpPr>
          <p:cNvPr id="582" name="Google Shape;582;p55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05. </a:t>
            </a:r>
            <a:r>
              <a:rPr lang="en"/>
              <a:t>Diagrams</a:t>
            </a:r>
            <a:endParaRPr/>
          </a:p>
        </p:txBody>
      </p:sp>
      <p:sp>
        <p:nvSpPr>
          <p:cNvPr id="583" name="Google Shape;583;p55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06. </a:t>
            </a:r>
            <a:r>
              <a:rPr lang="en"/>
              <a:t>Architectural Design</a:t>
            </a:r>
            <a:endParaRPr/>
          </a:p>
        </p:txBody>
      </p:sp>
      <p:cxnSp>
        <p:nvCxnSpPr>
          <p:cNvPr id="584" name="Google Shape;584;p55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5"/>
          <p:cNvSpPr txBox="1"/>
          <p:nvPr>
            <p:ph type="title"/>
          </p:nvPr>
        </p:nvSpPr>
        <p:spPr>
          <a:xfrm>
            <a:off x="178525" y="380700"/>
            <a:ext cx="2967000" cy="1333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6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596" name="Google Shape;596;p57"/>
          <p:cNvSpPr txBox="1"/>
          <p:nvPr>
            <p:ph idx="1" type="subTitle"/>
          </p:nvPr>
        </p:nvSpPr>
        <p:spPr>
          <a:xfrm>
            <a:off x="284704" y="2745375"/>
            <a:ext cx="2559300" cy="606300"/>
          </a:xfrm>
          <a:prstGeom prst="rect">
            <a:avLst/>
          </a:prstGeom>
        </p:spPr>
        <p:txBody>
          <a:bodyPr anchorCtr="0" anchor="b" bIns="118750" lIns="118750" spcFirstLastPara="1" rIns="118750" wrap="square" tIns="118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/>
              <a:t>OBJECTIVE 1</a:t>
            </a:r>
            <a:endParaRPr sz="1428"/>
          </a:p>
        </p:txBody>
      </p:sp>
      <p:sp>
        <p:nvSpPr>
          <p:cNvPr id="597" name="Google Shape;597;p57"/>
          <p:cNvSpPr txBox="1"/>
          <p:nvPr>
            <p:ph idx="2" type="subTitle"/>
          </p:nvPr>
        </p:nvSpPr>
        <p:spPr>
          <a:xfrm>
            <a:off x="284704" y="3285185"/>
            <a:ext cx="2559300" cy="639600"/>
          </a:xfrm>
          <a:prstGeom prst="rect">
            <a:avLst/>
          </a:prstGeom>
        </p:spPr>
        <p:txBody>
          <a:bodyPr anchorCtr="0" anchor="t" bIns="118750" lIns="118750" spcFirstLastPara="1" rIns="118750" wrap="square" tIns="118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8"/>
              <a:t>Calculating current Class Grades and Term GPA</a:t>
            </a:r>
            <a:endParaRPr sz="1298"/>
          </a:p>
        </p:txBody>
      </p:sp>
      <p:sp>
        <p:nvSpPr>
          <p:cNvPr id="598" name="Google Shape;598;p57"/>
          <p:cNvSpPr txBox="1"/>
          <p:nvPr>
            <p:ph idx="3" type="subTitle"/>
          </p:nvPr>
        </p:nvSpPr>
        <p:spPr>
          <a:xfrm>
            <a:off x="3434719" y="2745375"/>
            <a:ext cx="2559300" cy="606300"/>
          </a:xfrm>
          <a:prstGeom prst="rect">
            <a:avLst/>
          </a:prstGeom>
        </p:spPr>
        <p:txBody>
          <a:bodyPr anchorCtr="0" anchor="b" bIns="118750" lIns="118750" spcFirstLastPara="1" rIns="118750" wrap="square" tIns="118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/>
              <a:t>OBJECTIVE 2</a:t>
            </a:r>
            <a:endParaRPr sz="1428"/>
          </a:p>
        </p:txBody>
      </p:sp>
      <p:sp>
        <p:nvSpPr>
          <p:cNvPr id="599" name="Google Shape;599;p57"/>
          <p:cNvSpPr txBox="1"/>
          <p:nvPr>
            <p:ph idx="4" type="subTitle"/>
          </p:nvPr>
        </p:nvSpPr>
        <p:spPr>
          <a:xfrm>
            <a:off x="3434719" y="3285185"/>
            <a:ext cx="2559300" cy="639600"/>
          </a:xfrm>
          <a:prstGeom prst="rect">
            <a:avLst/>
          </a:prstGeom>
        </p:spPr>
        <p:txBody>
          <a:bodyPr anchorCtr="0" anchor="t" bIns="118750" lIns="118750" spcFirstLastPara="1" rIns="118750" wrap="square" tIns="118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8"/>
              <a:t>A</a:t>
            </a:r>
            <a:r>
              <a:rPr lang="en" sz="1298"/>
              <a:t>bility to automate integration of custom Grade scales </a:t>
            </a:r>
            <a:endParaRPr sz="1298"/>
          </a:p>
        </p:txBody>
      </p:sp>
      <p:sp>
        <p:nvSpPr>
          <p:cNvPr id="600" name="Google Shape;600;p57"/>
          <p:cNvSpPr txBox="1"/>
          <p:nvPr>
            <p:ph idx="5" type="subTitle"/>
          </p:nvPr>
        </p:nvSpPr>
        <p:spPr>
          <a:xfrm>
            <a:off x="6584736" y="2745375"/>
            <a:ext cx="2559300" cy="606300"/>
          </a:xfrm>
          <a:prstGeom prst="rect">
            <a:avLst/>
          </a:prstGeom>
        </p:spPr>
        <p:txBody>
          <a:bodyPr anchorCtr="0" anchor="b" bIns="118750" lIns="118750" spcFirstLastPara="1" rIns="118750" wrap="square" tIns="118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/>
              <a:t>OBJECTIVE 3</a:t>
            </a:r>
            <a:endParaRPr sz="1428"/>
          </a:p>
        </p:txBody>
      </p:sp>
      <p:sp>
        <p:nvSpPr>
          <p:cNvPr id="601" name="Google Shape;601;p57"/>
          <p:cNvSpPr txBox="1"/>
          <p:nvPr>
            <p:ph idx="6" type="subTitle"/>
          </p:nvPr>
        </p:nvSpPr>
        <p:spPr>
          <a:xfrm>
            <a:off x="6584736" y="3285185"/>
            <a:ext cx="2559300" cy="639600"/>
          </a:xfrm>
          <a:prstGeom prst="rect">
            <a:avLst/>
          </a:prstGeom>
        </p:spPr>
        <p:txBody>
          <a:bodyPr anchorCtr="0" anchor="t" bIns="118750" lIns="118750" spcFirstLastPara="1" rIns="118750" wrap="square" tIns="118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8"/>
              <a:t>Keep track </a:t>
            </a:r>
            <a:r>
              <a:rPr lang="en" sz="1298"/>
              <a:t>of class attendance and Assignments due </a:t>
            </a:r>
            <a:endParaRPr sz="1298"/>
          </a:p>
        </p:txBody>
      </p:sp>
      <p:sp>
        <p:nvSpPr>
          <p:cNvPr id="602" name="Google Shape;602;p57"/>
          <p:cNvSpPr/>
          <p:nvPr/>
        </p:nvSpPr>
        <p:spPr>
          <a:xfrm rot="10800000">
            <a:off x="284678" y="1509944"/>
            <a:ext cx="1319400" cy="13194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3" name="Google Shape;603;p57"/>
          <p:cNvSpPr/>
          <p:nvPr/>
        </p:nvSpPr>
        <p:spPr>
          <a:xfrm rot="-5400000">
            <a:off x="284702" y="2170539"/>
            <a:ext cx="658800" cy="65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4" name="Google Shape;604;p57"/>
          <p:cNvSpPr/>
          <p:nvPr/>
        </p:nvSpPr>
        <p:spPr>
          <a:xfrm>
            <a:off x="943611" y="2170438"/>
            <a:ext cx="658800" cy="65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5" name="Google Shape;605;p57"/>
          <p:cNvSpPr/>
          <p:nvPr/>
        </p:nvSpPr>
        <p:spPr>
          <a:xfrm rot="-5400000">
            <a:off x="3434718" y="1509944"/>
            <a:ext cx="1319400" cy="13194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7"/>
          <p:cNvSpPr/>
          <p:nvPr/>
        </p:nvSpPr>
        <p:spPr>
          <a:xfrm rot="-5400000">
            <a:off x="3434719" y="2170539"/>
            <a:ext cx="658800" cy="65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7" name="Google Shape;607;p57"/>
          <p:cNvSpPr/>
          <p:nvPr/>
        </p:nvSpPr>
        <p:spPr>
          <a:xfrm>
            <a:off x="3434719" y="1509974"/>
            <a:ext cx="658800" cy="65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8" name="Google Shape;608;p57"/>
          <p:cNvSpPr/>
          <p:nvPr/>
        </p:nvSpPr>
        <p:spPr>
          <a:xfrm>
            <a:off x="6586293" y="1509975"/>
            <a:ext cx="1319400" cy="13194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9" name="Google Shape;609;p57"/>
          <p:cNvSpPr/>
          <p:nvPr/>
        </p:nvSpPr>
        <p:spPr>
          <a:xfrm rot="-5400000">
            <a:off x="6584736" y="1510075"/>
            <a:ext cx="658800" cy="658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0" name="Google Shape;610;p57"/>
          <p:cNvSpPr/>
          <p:nvPr/>
        </p:nvSpPr>
        <p:spPr>
          <a:xfrm>
            <a:off x="7246762" y="1509974"/>
            <a:ext cx="658800" cy="65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18750" lIns="118750" spcFirstLastPara="1" rIns="118750" wrap="square" tIns="118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8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8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9"/>
          <p:cNvSpPr/>
          <p:nvPr/>
        </p:nvSpPr>
        <p:spPr>
          <a:xfrm flipH="1">
            <a:off x="20" y="2692072"/>
            <a:ext cx="17094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1" name="Google Shape;621;p59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2" name="Google Shape;622;p59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3" name="Google Shape;623;p59"/>
          <p:cNvSpPr txBox="1"/>
          <p:nvPr>
            <p:ph type="title"/>
          </p:nvPr>
        </p:nvSpPr>
        <p:spPr>
          <a:xfrm>
            <a:off x="219950" y="330150"/>
            <a:ext cx="2403600" cy="646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Cost Estimation</a:t>
            </a:r>
            <a:endParaRPr sz="2500"/>
          </a:p>
        </p:txBody>
      </p:sp>
      <p:sp>
        <p:nvSpPr>
          <p:cNvPr id="624" name="Google Shape;624;p59"/>
          <p:cNvSpPr txBox="1"/>
          <p:nvPr>
            <p:ph idx="1" type="subTitle"/>
          </p:nvPr>
        </p:nvSpPr>
        <p:spPr>
          <a:xfrm>
            <a:off x="2350175" y="722025"/>
            <a:ext cx="5084100" cy="462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 are we doing it?</a:t>
            </a:r>
            <a:endParaRPr sz="1600"/>
          </a:p>
        </p:txBody>
      </p:sp>
      <p:sp>
        <p:nvSpPr>
          <p:cNvPr id="625" name="Google Shape;625;p59"/>
          <p:cNvSpPr txBox="1"/>
          <p:nvPr>
            <p:ph idx="2" type="subTitle"/>
          </p:nvPr>
        </p:nvSpPr>
        <p:spPr>
          <a:xfrm>
            <a:off x="2350175" y="1364475"/>
            <a:ext cx="5084100" cy="750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Application Composition Model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Many UI Screens + Reports + separated Logic Modules</a:t>
            </a:r>
            <a:endParaRPr sz="1600"/>
          </a:p>
        </p:txBody>
      </p:sp>
      <p:sp>
        <p:nvSpPr>
          <p:cNvPr id="626" name="Google Shape;626;p59"/>
          <p:cNvSpPr txBox="1"/>
          <p:nvPr/>
        </p:nvSpPr>
        <p:spPr>
          <a:xfrm>
            <a:off x="2201325" y="2114475"/>
            <a:ext cx="5738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part of COCOMO II Software Cost estimation suite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model estimates Effort based on calculating the Object Points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 Medium"/>
              <a:buChar char="○"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Screens, Reports, Modules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 Medium"/>
              <a:buChar char="●"/>
            </a:pPr>
            <a:r>
              <a:rPr lang="en" sz="1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Effort = # OP / Productivity</a:t>
            </a:r>
            <a:endParaRPr sz="1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0"/>
          <p:cNvSpPr/>
          <p:nvPr/>
        </p:nvSpPr>
        <p:spPr>
          <a:xfrm flipH="1">
            <a:off x="20" y="2692072"/>
            <a:ext cx="17094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6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3" name="Google Shape;633;p6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60"/>
          <p:cNvSpPr txBox="1"/>
          <p:nvPr>
            <p:ph type="title"/>
          </p:nvPr>
        </p:nvSpPr>
        <p:spPr>
          <a:xfrm>
            <a:off x="219950" y="330150"/>
            <a:ext cx="2403600" cy="646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Cost Estimation</a:t>
            </a:r>
            <a:endParaRPr sz="2400"/>
          </a:p>
        </p:txBody>
      </p:sp>
      <p:sp>
        <p:nvSpPr>
          <p:cNvPr id="635" name="Google Shape;635;p60"/>
          <p:cNvSpPr txBox="1"/>
          <p:nvPr>
            <p:ph idx="1" type="subTitle"/>
          </p:nvPr>
        </p:nvSpPr>
        <p:spPr>
          <a:xfrm>
            <a:off x="2623550" y="768938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 (10)</a:t>
            </a:r>
            <a:endParaRPr/>
          </a:p>
        </p:txBody>
      </p:sp>
      <p:sp>
        <p:nvSpPr>
          <p:cNvPr id="636" name="Google Shape;636;p60"/>
          <p:cNvSpPr txBox="1"/>
          <p:nvPr>
            <p:ph idx="2" type="subTitle"/>
          </p:nvPr>
        </p:nvSpPr>
        <p:spPr>
          <a:xfrm>
            <a:off x="2474877" y="1306588"/>
            <a:ext cx="2717700" cy="191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Login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Home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Attendance Tracker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Edit Attendance Form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Grade Calculator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Syllabus Upload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Parsed Syllabus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Assignments tracker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Grade calculator Page</a:t>
            </a:r>
            <a:endParaRPr sz="1100"/>
          </a:p>
          <a:p>
            <a:pPr indent="-184150" lvl="0" marL="3429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Settings Page</a:t>
            </a:r>
            <a:endParaRPr sz="1100"/>
          </a:p>
        </p:txBody>
      </p:sp>
      <p:sp>
        <p:nvSpPr>
          <p:cNvPr id="637" name="Google Shape;637;p60"/>
          <p:cNvSpPr txBox="1"/>
          <p:nvPr>
            <p:ph idx="3" type="subTitle"/>
          </p:nvPr>
        </p:nvSpPr>
        <p:spPr>
          <a:xfrm>
            <a:off x="5586475" y="76897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Reports (3)</a:t>
            </a:r>
            <a:endParaRPr/>
          </a:p>
        </p:txBody>
      </p:sp>
      <p:sp>
        <p:nvSpPr>
          <p:cNvPr id="638" name="Google Shape;638;p60"/>
          <p:cNvSpPr txBox="1"/>
          <p:nvPr>
            <p:ph idx="4" type="subTitle"/>
          </p:nvPr>
        </p:nvSpPr>
        <p:spPr>
          <a:xfrm>
            <a:off x="5425475" y="1367763"/>
            <a:ext cx="2403600" cy="64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Attendance Summary Report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Grade Summary Report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Predicted Result Report</a:t>
            </a:r>
            <a:endParaRPr/>
          </a:p>
        </p:txBody>
      </p:sp>
      <p:sp>
        <p:nvSpPr>
          <p:cNvPr id="639" name="Google Shape;639;p60"/>
          <p:cNvSpPr txBox="1"/>
          <p:nvPr>
            <p:ph idx="5" type="subTitle"/>
          </p:nvPr>
        </p:nvSpPr>
        <p:spPr>
          <a:xfrm>
            <a:off x="5586475" y="2146310"/>
            <a:ext cx="1583700" cy="2334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Modules (5)</a:t>
            </a:r>
            <a:endParaRPr/>
          </a:p>
        </p:txBody>
      </p:sp>
      <p:sp>
        <p:nvSpPr>
          <p:cNvPr id="640" name="Google Shape;640;p60"/>
          <p:cNvSpPr txBox="1"/>
          <p:nvPr>
            <p:ph idx="6" type="subTitle"/>
          </p:nvPr>
        </p:nvSpPr>
        <p:spPr>
          <a:xfrm>
            <a:off x="5463325" y="2511713"/>
            <a:ext cx="2403600" cy="110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Grade Calculation Logic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Attendance Logic Module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Syllabus Scraping &amp; Parsing Module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Assignment Reminder Logic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Data Handler</a:t>
            </a:r>
            <a:endParaRPr/>
          </a:p>
        </p:txBody>
      </p:sp>
      <p:sp>
        <p:nvSpPr>
          <p:cNvPr id="641" name="Google Shape;641;p60"/>
          <p:cNvSpPr txBox="1"/>
          <p:nvPr/>
        </p:nvSpPr>
        <p:spPr>
          <a:xfrm>
            <a:off x="2474875" y="3509363"/>
            <a:ext cx="2154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Total Count = 10 + 3 + 5 = 18 OP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Effort = OP / Productivity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18 / 10 = 1.8 person-month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1"/>
          <p:cNvSpPr/>
          <p:nvPr/>
        </p:nvSpPr>
        <p:spPr>
          <a:xfrm flipH="1">
            <a:off x="20" y="2692072"/>
            <a:ext cx="17094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7" name="Google Shape;647;p61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8" name="Google Shape;648;p61"/>
          <p:cNvSpPr/>
          <p:nvPr/>
        </p:nvSpPr>
        <p:spPr>
          <a:xfrm flipH="1" rot="-5400000">
            <a:off x="-32075" y="3596075"/>
            <a:ext cx="1584300" cy="15204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9" name="Google Shape;649;p61"/>
          <p:cNvSpPr txBox="1"/>
          <p:nvPr>
            <p:ph type="title"/>
          </p:nvPr>
        </p:nvSpPr>
        <p:spPr>
          <a:xfrm>
            <a:off x="219950" y="330150"/>
            <a:ext cx="2403600" cy="646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Cost Estimation</a:t>
            </a:r>
            <a:endParaRPr sz="2400"/>
          </a:p>
        </p:txBody>
      </p:sp>
      <p:sp>
        <p:nvSpPr>
          <p:cNvPr id="650" name="Google Shape;650;p61"/>
          <p:cNvSpPr txBox="1"/>
          <p:nvPr/>
        </p:nvSpPr>
        <p:spPr>
          <a:xfrm>
            <a:off x="1709425" y="976650"/>
            <a:ext cx="7234500" cy="3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•</a:t>
            </a:r>
            <a:r>
              <a:rPr b="1" lang="en" sz="1100">
                <a:solidFill>
                  <a:schemeClr val="lt1"/>
                </a:solidFill>
              </a:rPr>
              <a:t> Effort = 1.8 person-months	</a:t>
            </a:r>
            <a:r>
              <a:rPr lang="en" sz="1100">
                <a:solidFill>
                  <a:schemeClr val="lt1"/>
                </a:solidFill>
              </a:rPr>
              <a:t>(based on 18 Object Points ÷ productivity 10)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Development Cost ≈ $18,000	</a:t>
            </a:r>
            <a:r>
              <a:rPr lang="en" sz="1100">
                <a:solidFill>
                  <a:schemeClr val="lt1"/>
                </a:solidFill>
              </a:rPr>
              <a:t>(1.8 person-months × $10,000 per month)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Hardware Costs ≈ $1,290		</a:t>
            </a:r>
            <a:r>
              <a:rPr lang="en" sz="1100">
                <a:solidFill>
                  <a:schemeClr val="lt1"/>
                </a:solidFill>
              </a:rPr>
              <a:t>(cloud hosting, laptop depreciation, backup drives)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Software Costs ≈ $60		</a:t>
            </a:r>
            <a:r>
              <a:rPr lang="en" sz="1100">
                <a:solidFill>
                  <a:schemeClr val="lt1"/>
                </a:solidFill>
              </a:rPr>
              <a:t>(Acrobat tools; IDEs/GitHub free for students)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Misc Costs ≈ $400			</a:t>
            </a:r>
            <a:r>
              <a:rPr lang="en" sz="1100">
                <a:solidFill>
                  <a:schemeClr val="lt1"/>
                </a:solidFill>
              </a:rPr>
              <a:t>(training material, documentation, deployment)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Calculated Total ≈ $19,750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Predicted Mark-Up = 1.20 × Total ≈ $23,700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• Final Estimated Cost ≈ $23,000–$24,000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2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63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p63"/>
          <p:cNvSpPr/>
          <p:nvPr/>
        </p:nvSpPr>
        <p:spPr>
          <a:xfrm flipH="1" rot="-5400000">
            <a:off x="8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63"/>
          <p:cNvSpPr/>
          <p:nvPr/>
        </p:nvSpPr>
        <p:spPr>
          <a:xfrm flipH="1" rot="-5400000">
            <a:off x="1779019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63"/>
          <p:cNvSpPr/>
          <p:nvPr/>
        </p:nvSpPr>
        <p:spPr>
          <a:xfrm flipH="1" rot="-5400000">
            <a:off x="3545408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63"/>
          <p:cNvSpPr/>
          <p:nvPr/>
        </p:nvSpPr>
        <p:spPr>
          <a:xfrm flipH="1" rot="-5400000">
            <a:off x="5305846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63"/>
          <p:cNvSpPr/>
          <p:nvPr/>
        </p:nvSpPr>
        <p:spPr>
          <a:xfrm flipH="1" rot="-5400000">
            <a:off x="7050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63"/>
          <p:cNvSpPr txBox="1"/>
          <p:nvPr>
            <p:ph type="title"/>
          </p:nvPr>
        </p:nvSpPr>
        <p:spPr>
          <a:xfrm>
            <a:off x="1475150" y="474762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667" name="Google Shape;667;p63"/>
          <p:cNvSpPr txBox="1"/>
          <p:nvPr>
            <p:ph idx="1" type="subTitle"/>
          </p:nvPr>
        </p:nvSpPr>
        <p:spPr>
          <a:xfrm>
            <a:off x="271250" y="2269625"/>
            <a:ext cx="17751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 25 – Sep 5, 2025</a:t>
            </a:r>
            <a:endParaRPr/>
          </a:p>
        </p:txBody>
      </p:sp>
      <p:sp>
        <p:nvSpPr>
          <p:cNvPr id="668" name="Google Shape;668;p63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8 – Sep 26, 2025</a:t>
            </a:r>
            <a:endParaRPr/>
          </a:p>
        </p:txBody>
      </p:sp>
      <p:sp>
        <p:nvSpPr>
          <p:cNvPr id="669" name="Google Shape;669;p63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29 – Oct 17, 2025</a:t>
            </a:r>
            <a:endParaRPr/>
          </a:p>
        </p:txBody>
      </p:sp>
      <p:sp>
        <p:nvSpPr>
          <p:cNvPr id="670" name="Google Shape;670;p63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 20 – Oct 31, 2025</a:t>
            </a:r>
            <a:endParaRPr/>
          </a:p>
        </p:txBody>
      </p:sp>
      <p:sp>
        <p:nvSpPr>
          <p:cNvPr id="671" name="Google Shape;671;p63"/>
          <p:cNvSpPr txBox="1"/>
          <p:nvPr>
            <p:ph idx="5" type="subTitle"/>
          </p:nvPr>
        </p:nvSpPr>
        <p:spPr>
          <a:xfrm>
            <a:off x="7318138" y="2339199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 3 – Nov 14,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63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Define the project vision, goals, feasibility constraints, and requirements.</a:t>
            </a:r>
            <a:endParaRPr/>
          </a:p>
        </p:txBody>
      </p:sp>
      <p:sp>
        <p:nvSpPr>
          <p:cNvPr id="673" name="Google Shape;673;p63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architecture, diagrams, designs, and build each feature incrementally.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This phase contains work on System Architecture, the Grade Calculator, and Attendance Tracking.</a:t>
            </a:r>
            <a:endParaRPr/>
          </a:p>
        </p:txBody>
      </p:sp>
      <p:sp>
        <p:nvSpPr>
          <p:cNvPr id="674" name="Google Shape;674;p63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architecture, diagrams, designs, and build each feature incrementally.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This phase contains work on UI Integration, Syllabus Scraping, and Data Handling Tasks.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3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Final development, system-wide testing, UI refinement, and presentation prep.</a:t>
            </a:r>
            <a:endParaRPr/>
          </a:p>
        </p:txBody>
      </p:sp>
      <p:sp>
        <p:nvSpPr>
          <p:cNvPr id="676" name="Google Shape;676;p63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Documentation finalization + retrospective + cleanup after submission.</a:t>
            </a:r>
            <a:endParaRPr/>
          </a:p>
        </p:txBody>
      </p:sp>
      <p:sp>
        <p:nvSpPr>
          <p:cNvPr id="677" name="Google Shape;677;p63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Initialization &amp; Scope</a:t>
            </a:r>
            <a:endParaRPr/>
          </a:p>
        </p:txBody>
      </p:sp>
      <p:sp>
        <p:nvSpPr>
          <p:cNvPr id="678" name="Google Shape;678;p63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Production Phase 1</a:t>
            </a:r>
            <a:endParaRPr/>
          </a:p>
        </p:txBody>
      </p:sp>
      <p:sp>
        <p:nvSpPr>
          <p:cNvPr id="679" name="Google Shape;679;p63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/ Final Integration</a:t>
            </a:r>
            <a:endParaRPr/>
          </a:p>
        </p:txBody>
      </p:sp>
      <p:sp>
        <p:nvSpPr>
          <p:cNvPr id="680" name="Google Shape;680;p63"/>
          <p:cNvSpPr txBox="1"/>
          <p:nvPr>
            <p:ph idx="17" type="subTitle"/>
          </p:nvPr>
        </p:nvSpPr>
        <p:spPr>
          <a:xfrm>
            <a:off x="7309011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&amp; Post-Launch</a:t>
            </a:r>
            <a:endParaRPr/>
          </a:p>
        </p:txBody>
      </p:sp>
      <p:sp>
        <p:nvSpPr>
          <p:cNvPr id="681" name="Google Shape;681;p63"/>
          <p:cNvSpPr txBox="1"/>
          <p:nvPr>
            <p:ph idx="15" type="subTitle"/>
          </p:nvPr>
        </p:nvSpPr>
        <p:spPr>
          <a:xfrm>
            <a:off x="3793511" y="2748039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Production Phase 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4"/>
          <p:cNvSpPr/>
          <p:nvPr/>
        </p:nvSpPr>
        <p:spPr>
          <a:xfrm>
            <a:off x="987125" y="1261000"/>
            <a:ext cx="8031600" cy="3331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7" name="Google Shape;687;p64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cxnSp>
        <p:nvCxnSpPr>
          <p:cNvPr id="688" name="Google Shape;688;p64"/>
          <p:cNvCxnSpPr/>
          <p:nvPr/>
        </p:nvCxnSpPr>
        <p:spPr>
          <a:xfrm>
            <a:off x="1667094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64"/>
          <p:cNvCxnSpPr/>
          <p:nvPr/>
        </p:nvCxnSpPr>
        <p:spPr>
          <a:xfrm>
            <a:off x="2343309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64"/>
          <p:cNvCxnSpPr/>
          <p:nvPr/>
        </p:nvCxnSpPr>
        <p:spPr>
          <a:xfrm>
            <a:off x="3019524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64"/>
          <p:cNvCxnSpPr/>
          <p:nvPr/>
        </p:nvCxnSpPr>
        <p:spPr>
          <a:xfrm>
            <a:off x="3695739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64"/>
          <p:cNvCxnSpPr/>
          <p:nvPr/>
        </p:nvCxnSpPr>
        <p:spPr>
          <a:xfrm>
            <a:off x="4371954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64"/>
          <p:cNvCxnSpPr/>
          <p:nvPr/>
        </p:nvCxnSpPr>
        <p:spPr>
          <a:xfrm>
            <a:off x="5048170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64"/>
          <p:cNvSpPr txBox="1"/>
          <p:nvPr>
            <p:ph idx="1" type="subTitle"/>
          </p:nvPr>
        </p:nvSpPr>
        <p:spPr>
          <a:xfrm>
            <a:off x="987129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1</a:t>
            </a:r>
            <a:endParaRPr sz="900"/>
          </a:p>
        </p:txBody>
      </p:sp>
      <p:sp>
        <p:nvSpPr>
          <p:cNvPr id="695" name="Google Shape;695;p64"/>
          <p:cNvSpPr txBox="1"/>
          <p:nvPr>
            <p:ph idx="1" type="subTitle"/>
          </p:nvPr>
        </p:nvSpPr>
        <p:spPr>
          <a:xfrm>
            <a:off x="1663294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2</a:t>
            </a:r>
            <a:endParaRPr sz="900"/>
          </a:p>
        </p:txBody>
      </p:sp>
      <p:sp>
        <p:nvSpPr>
          <p:cNvPr id="696" name="Google Shape;696;p64"/>
          <p:cNvSpPr txBox="1"/>
          <p:nvPr>
            <p:ph idx="1" type="subTitle"/>
          </p:nvPr>
        </p:nvSpPr>
        <p:spPr>
          <a:xfrm>
            <a:off x="2339459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3</a:t>
            </a:r>
            <a:endParaRPr sz="900"/>
          </a:p>
        </p:txBody>
      </p:sp>
      <p:sp>
        <p:nvSpPr>
          <p:cNvPr id="697" name="Google Shape;697;p64"/>
          <p:cNvSpPr txBox="1"/>
          <p:nvPr>
            <p:ph idx="1" type="subTitle"/>
          </p:nvPr>
        </p:nvSpPr>
        <p:spPr>
          <a:xfrm>
            <a:off x="3015623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4</a:t>
            </a:r>
            <a:endParaRPr sz="900"/>
          </a:p>
        </p:txBody>
      </p:sp>
      <p:sp>
        <p:nvSpPr>
          <p:cNvPr id="698" name="Google Shape;698;p64"/>
          <p:cNvSpPr txBox="1"/>
          <p:nvPr>
            <p:ph idx="1" type="subTitle"/>
          </p:nvPr>
        </p:nvSpPr>
        <p:spPr>
          <a:xfrm>
            <a:off x="3691788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5</a:t>
            </a:r>
            <a:endParaRPr sz="900"/>
          </a:p>
        </p:txBody>
      </p:sp>
      <p:sp>
        <p:nvSpPr>
          <p:cNvPr id="699" name="Google Shape;699;p64"/>
          <p:cNvSpPr txBox="1"/>
          <p:nvPr>
            <p:ph idx="1" type="subTitle"/>
          </p:nvPr>
        </p:nvSpPr>
        <p:spPr>
          <a:xfrm>
            <a:off x="4367953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6</a:t>
            </a:r>
            <a:endParaRPr sz="900"/>
          </a:p>
        </p:txBody>
      </p:sp>
      <p:sp>
        <p:nvSpPr>
          <p:cNvPr id="700" name="Google Shape;700;p64"/>
          <p:cNvSpPr txBox="1"/>
          <p:nvPr>
            <p:ph idx="1" type="subTitle"/>
          </p:nvPr>
        </p:nvSpPr>
        <p:spPr>
          <a:xfrm>
            <a:off x="5044851" y="95060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7</a:t>
            </a:r>
            <a:endParaRPr sz="900"/>
          </a:p>
        </p:txBody>
      </p:sp>
      <p:sp>
        <p:nvSpPr>
          <p:cNvPr id="701" name="Google Shape;701;p64"/>
          <p:cNvSpPr txBox="1"/>
          <p:nvPr>
            <p:ph idx="1" type="subTitle"/>
          </p:nvPr>
        </p:nvSpPr>
        <p:spPr>
          <a:xfrm>
            <a:off x="283475" y="1578200"/>
            <a:ext cx="703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Initialization &amp; Scope</a:t>
            </a:r>
            <a:endParaRPr sz="900"/>
          </a:p>
        </p:txBody>
      </p:sp>
      <p:sp>
        <p:nvSpPr>
          <p:cNvPr id="702" name="Google Shape;702;p64"/>
          <p:cNvSpPr txBox="1"/>
          <p:nvPr>
            <p:ph idx="1" type="subTitle"/>
          </p:nvPr>
        </p:nvSpPr>
        <p:spPr>
          <a:xfrm>
            <a:off x="283560" y="2231075"/>
            <a:ext cx="703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Planning &amp; Production</a:t>
            </a:r>
            <a:br>
              <a:rPr lang="en" sz="3000">
                <a:latin typeface="Poppins"/>
                <a:ea typeface="Poppins"/>
                <a:cs typeface="Poppins"/>
                <a:sym typeface="Poppins"/>
              </a:rPr>
            </a:b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Phase 1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64"/>
          <p:cNvSpPr txBox="1"/>
          <p:nvPr>
            <p:ph idx="1" type="subTitle"/>
          </p:nvPr>
        </p:nvSpPr>
        <p:spPr>
          <a:xfrm>
            <a:off x="283475" y="2824300"/>
            <a:ext cx="703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Planning &amp; Production</a:t>
            </a:r>
            <a:br>
              <a:rPr lang="en" sz="3000">
                <a:latin typeface="Poppins"/>
                <a:ea typeface="Poppins"/>
                <a:cs typeface="Poppins"/>
                <a:sym typeface="Poppins"/>
              </a:rPr>
            </a:b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Phase 2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04" name="Google Shape;704;p64"/>
          <p:cNvSpPr txBox="1"/>
          <p:nvPr>
            <p:ph idx="1" type="subTitle"/>
          </p:nvPr>
        </p:nvSpPr>
        <p:spPr>
          <a:xfrm>
            <a:off x="283475" y="3447350"/>
            <a:ext cx="703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Launch / Final Integration</a:t>
            </a:r>
            <a:endParaRPr sz="900"/>
          </a:p>
        </p:txBody>
      </p:sp>
      <p:sp>
        <p:nvSpPr>
          <p:cNvPr id="705" name="Google Shape;705;p64"/>
          <p:cNvSpPr txBox="1"/>
          <p:nvPr>
            <p:ph idx="1" type="subTitle"/>
          </p:nvPr>
        </p:nvSpPr>
        <p:spPr>
          <a:xfrm>
            <a:off x="283475" y="4070400"/>
            <a:ext cx="703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Closing / Post-Launch</a:t>
            </a:r>
            <a:endParaRPr sz="900"/>
          </a:p>
        </p:txBody>
      </p:sp>
      <p:sp>
        <p:nvSpPr>
          <p:cNvPr descr="A chart showing when tasks need to be started and completed across a seven-week period. " id="706" name="Google Shape;706;p64"/>
          <p:cNvSpPr/>
          <p:nvPr/>
        </p:nvSpPr>
        <p:spPr>
          <a:xfrm>
            <a:off x="987194" y="1455200"/>
            <a:ext cx="1330200" cy="450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2317554" y="2078250"/>
            <a:ext cx="2054400" cy="450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8" name="Google Shape;708;p64"/>
          <p:cNvSpPr txBox="1"/>
          <p:nvPr>
            <p:ph idx="1" type="subTitle"/>
          </p:nvPr>
        </p:nvSpPr>
        <p:spPr>
          <a:xfrm>
            <a:off x="5730165" y="952550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8</a:t>
            </a:r>
            <a:endParaRPr sz="900"/>
          </a:p>
        </p:txBody>
      </p:sp>
      <p:cxnSp>
        <p:nvCxnSpPr>
          <p:cNvPr id="709" name="Google Shape;709;p64"/>
          <p:cNvCxnSpPr/>
          <p:nvPr/>
        </p:nvCxnSpPr>
        <p:spPr>
          <a:xfrm>
            <a:off x="5738473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64"/>
          <p:cNvCxnSpPr/>
          <p:nvPr/>
        </p:nvCxnSpPr>
        <p:spPr>
          <a:xfrm>
            <a:off x="6449187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" name="Google Shape;711;p64"/>
          <p:cNvSpPr txBox="1"/>
          <p:nvPr>
            <p:ph idx="1" type="subTitle"/>
          </p:nvPr>
        </p:nvSpPr>
        <p:spPr>
          <a:xfrm>
            <a:off x="6449183" y="952557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9</a:t>
            </a:r>
            <a:endParaRPr sz="900"/>
          </a:p>
        </p:txBody>
      </p:sp>
      <p:cxnSp>
        <p:nvCxnSpPr>
          <p:cNvPr id="712" name="Google Shape;712;p64"/>
          <p:cNvCxnSpPr/>
          <p:nvPr/>
        </p:nvCxnSpPr>
        <p:spPr>
          <a:xfrm>
            <a:off x="8354241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64"/>
          <p:cNvCxnSpPr/>
          <p:nvPr/>
        </p:nvCxnSpPr>
        <p:spPr>
          <a:xfrm>
            <a:off x="7721047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64"/>
          <p:cNvSpPr/>
          <p:nvPr/>
        </p:nvSpPr>
        <p:spPr>
          <a:xfrm>
            <a:off x="4371867" y="2626075"/>
            <a:ext cx="2054400" cy="450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5" name="Google Shape;715;p64"/>
          <p:cNvSpPr txBox="1"/>
          <p:nvPr>
            <p:ph idx="1" type="subTitle"/>
          </p:nvPr>
        </p:nvSpPr>
        <p:spPr>
          <a:xfrm>
            <a:off x="7092371" y="952557"/>
            <a:ext cx="6801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10</a:t>
            </a:r>
            <a:endParaRPr sz="900"/>
          </a:p>
        </p:txBody>
      </p:sp>
      <p:sp>
        <p:nvSpPr>
          <p:cNvPr id="716" name="Google Shape;716;p64"/>
          <p:cNvSpPr txBox="1"/>
          <p:nvPr>
            <p:ph idx="1" type="subTitle"/>
          </p:nvPr>
        </p:nvSpPr>
        <p:spPr>
          <a:xfrm>
            <a:off x="7680639" y="952560"/>
            <a:ext cx="7416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12</a:t>
            </a:r>
            <a:endParaRPr sz="900"/>
          </a:p>
        </p:txBody>
      </p:sp>
      <p:cxnSp>
        <p:nvCxnSpPr>
          <p:cNvPr id="717" name="Google Shape;717;p64"/>
          <p:cNvCxnSpPr/>
          <p:nvPr/>
        </p:nvCxnSpPr>
        <p:spPr>
          <a:xfrm>
            <a:off x="7087222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64"/>
          <p:cNvSpPr/>
          <p:nvPr/>
        </p:nvSpPr>
        <p:spPr>
          <a:xfrm>
            <a:off x="6410400" y="3324350"/>
            <a:ext cx="1330200" cy="4509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9" name="Google Shape;719;p64"/>
          <p:cNvSpPr/>
          <p:nvPr/>
        </p:nvSpPr>
        <p:spPr>
          <a:xfrm>
            <a:off x="7725275" y="3947400"/>
            <a:ext cx="1255800" cy="450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0" name="Google Shape;720;p64"/>
          <p:cNvSpPr txBox="1"/>
          <p:nvPr>
            <p:ph idx="1" type="subTitle"/>
          </p:nvPr>
        </p:nvSpPr>
        <p:spPr>
          <a:xfrm>
            <a:off x="8296039" y="952560"/>
            <a:ext cx="7416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Week 13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5"/>
          <p:cNvSpPr txBox="1"/>
          <p:nvPr>
            <p:ph idx="5" type="title"/>
          </p:nvPr>
        </p:nvSpPr>
        <p:spPr>
          <a:xfrm>
            <a:off x="284700" y="1255577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Initialization &amp; Scope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65"/>
          <p:cNvSpPr txBox="1"/>
          <p:nvPr>
            <p:ph idx="3" type="body"/>
          </p:nvPr>
        </p:nvSpPr>
        <p:spPr>
          <a:xfrm>
            <a:off x="284700" y="1611048"/>
            <a:ext cx="35451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Tasks in This Phase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Requirements Gathering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Identify functional requirements (grade calculator, attendance tracker, scraping, etc.).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Identify non-functional requirements (usability, scalability, portability).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Validate assumptions: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Syllabi in .pdf/.docx formats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Access to UTD eLearning API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Legal access to course data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Draft initial problem statement.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pic>
        <p:nvPicPr>
          <p:cNvPr descr="Two people in an office have a discussion in front of a computer screen. " id="727" name="Google Shape;727;p65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25031" r="34006" t="0"/>
          <a:stretch/>
        </p:blipFill>
        <p:spPr>
          <a:xfrm>
            <a:off x="6762950" y="0"/>
            <a:ext cx="2380800" cy="3266700"/>
          </a:xfrm>
          <a:prstGeom prst="round2DiagRect">
            <a:avLst>
              <a:gd fmla="val 16667" name="adj1"/>
              <a:gd fmla="val 0" name="adj2"/>
            </a:avLst>
          </a:prstGeom>
        </p:spPr>
      </p:pic>
      <p:sp>
        <p:nvSpPr>
          <p:cNvPr id="728" name="Google Shape;728;p65"/>
          <p:cNvSpPr txBox="1"/>
          <p:nvPr>
            <p:ph type="title"/>
          </p:nvPr>
        </p:nvSpPr>
        <p:spPr>
          <a:xfrm>
            <a:off x="284700" y="481927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phase:</a:t>
            </a:r>
            <a:endParaRPr/>
          </a:p>
        </p:txBody>
      </p:sp>
      <p:sp>
        <p:nvSpPr>
          <p:cNvPr id="729" name="Google Shape;729;p65"/>
          <p:cNvSpPr/>
          <p:nvPr/>
        </p:nvSpPr>
        <p:spPr>
          <a:xfrm flipH="1" rot="-5400000">
            <a:off x="8850" y="106303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0" name="Google Shape;730;p65"/>
          <p:cNvSpPr txBox="1"/>
          <p:nvPr>
            <p:ph idx="3" type="body"/>
          </p:nvPr>
        </p:nvSpPr>
        <p:spPr>
          <a:xfrm>
            <a:off x="3538114" y="1640865"/>
            <a:ext cx="35451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Scope Definition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Identify primary deliverables.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Prioritize features for the incremental model.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Define minimal viable product (MVP):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Basic grade calculator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Attendance tracker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Assignment tracking input feature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Initial SRS (requirements document)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Task delegation (revised per grader feedback)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14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Initial schedule and risk assessment.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6"/>
          <p:cNvSpPr txBox="1"/>
          <p:nvPr>
            <p:ph idx="3" type="title"/>
          </p:nvPr>
        </p:nvSpPr>
        <p:spPr>
          <a:xfrm>
            <a:off x="284700" y="1235700"/>
            <a:ext cx="58410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Production Phase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66"/>
          <p:cNvSpPr txBox="1"/>
          <p:nvPr>
            <p:ph idx="1" type="body"/>
          </p:nvPr>
        </p:nvSpPr>
        <p:spPr>
          <a:xfrm>
            <a:off x="284700" y="1591171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Hosanna &amp; Govind → Draft high-level architecture.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Class diagram, use case diagram, sequence diagrams (team-wide effort).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Thomas &amp; Faiz → Build the grade calculator module (weights, curves, projections).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Awsaf → Integrate front/back-end foundation (ASP.NET structure).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Saulo → Core attendance logic and data structures.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Joshua → Integration support + documentation updates.</a:t>
            </a:r>
            <a:endParaRPr/>
          </a:p>
        </p:txBody>
      </p:sp>
      <p:pic>
        <p:nvPicPr>
          <p:cNvPr descr="A close up of hands, books, tablets, and laptops on a long table. " id="737" name="Google Shape;737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000" r="22005" t="0"/>
          <a:stretch/>
        </p:blipFill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pic>
      <p:sp>
        <p:nvSpPr>
          <p:cNvPr id="738" name="Google Shape;738;p66"/>
          <p:cNvSpPr txBox="1"/>
          <p:nvPr>
            <p:ph type="title"/>
          </p:nvPr>
        </p:nvSpPr>
        <p:spPr>
          <a:xfrm>
            <a:off x="284700" y="4620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phase:</a:t>
            </a:r>
            <a:endParaRPr/>
          </a:p>
        </p:txBody>
      </p:sp>
      <p:sp>
        <p:nvSpPr>
          <p:cNvPr id="739" name="Google Shape;739;p66"/>
          <p:cNvSpPr/>
          <p:nvPr/>
        </p:nvSpPr>
        <p:spPr>
          <a:xfrm flipH="1" rot="-5400000">
            <a:off x="8850" y="864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0" name="Google Shape;740;p66"/>
          <p:cNvSpPr txBox="1"/>
          <p:nvPr>
            <p:ph idx="1" type="body"/>
          </p:nvPr>
        </p:nvSpPr>
        <p:spPr>
          <a:xfrm>
            <a:off x="3236325" y="1601110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Architectural design section (already in your file).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First working module: Grade Calculator MVP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Attendance Tracker MVP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Updated diagrams if necessary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7"/>
          <p:cNvSpPr txBox="1"/>
          <p:nvPr>
            <p:ph idx="5" type="title"/>
          </p:nvPr>
        </p:nvSpPr>
        <p:spPr>
          <a:xfrm>
            <a:off x="284700" y="1235700"/>
            <a:ext cx="59505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Production Phase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wo people in an office laugh and talk while working on their tablets and laptops. " id="746" name="Google Shape;746;p67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6016" l="0" r="0" t="6016"/>
          <a:stretch/>
        </p:blipFill>
        <p:spPr>
          <a:xfrm rot="10800000">
            <a:off x="6324525" y="0"/>
            <a:ext cx="2819400" cy="37158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747" name="Google Shape;747;p67"/>
          <p:cNvSpPr txBox="1"/>
          <p:nvPr>
            <p:ph type="title"/>
          </p:nvPr>
        </p:nvSpPr>
        <p:spPr>
          <a:xfrm>
            <a:off x="284700" y="4620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phase:</a:t>
            </a:r>
            <a:endParaRPr/>
          </a:p>
        </p:txBody>
      </p:sp>
      <p:sp>
        <p:nvSpPr>
          <p:cNvPr id="748" name="Google Shape;748;p67"/>
          <p:cNvSpPr/>
          <p:nvPr/>
        </p:nvSpPr>
        <p:spPr>
          <a:xfrm flipH="1" rot="-5400000">
            <a:off x="8850" y="864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67"/>
          <p:cNvSpPr txBox="1"/>
          <p:nvPr>
            <p:ph idx="5" type="title"/>
          </p:nvPr>
        </p:nvSpPr>
        <p:spPr>
          <a:xfrm>
            <a:off x="284700" y="1235700"/>
            <a:ext cx="58410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&amp; Production Phase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7"/>
          <p:cNvSpPr txBox="1"/>
          <p:nvPr>
            <p:ph idx="3" type="body"/>
          </p:nvPr>
        </p:nvSpPr>
        <p:spPr>
          <a:xfrm>
            <a:off x="284700" y="1591171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Hosanna → Front-end UI screens for attendance &amp; grade calculator.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Awsaf → Backend connection and database mock integration.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Awsaf &amp; Faiz → Build syllabus scraping prototype.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(Everyone) Parse assignment categories, weights.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(Everyone) Error handling for missing syllabus data.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(Everyone) Unit tests for scraping robustness.</a:t>
            </a: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751" name="Google Shape;751;p67"/>
          <p:cNvSpPr txBox="1"/>
          <p:nvPr>
            <p:ph idx="3" type="body"/>
          </p:nvPr>
        </p:nvSpPr>
        <p:spPr>
          <a:xfrm>
            <a:off x="3236325" y="1601110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UI + functionality integration with Increment 1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Syllabus Scraper MVP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Fully integrated early version of the School Assistance Dashboard (SAD)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Updated task delegation based on implementation discoveries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8"/>
          <p:cNvSpPr txBox="1"/>
          <p:nvPr>
            <p:ph idx="3" type="title"/>
          </p:nvPr>
        </p:nvSpPr>
        <p:spPr>
          <a:xfrm>
            <a:off x="284700" y="1086612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/ Final 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ur people stand in an office while one of them tests a virtual reality helmet. " id="757" name="Google Shape;757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058" r="25053" t="0"/>
          <a:stretch/>
        </p:blipFill>
        <p:spPr>
          <a:xfrm>
            <a:off x="6355775" y="1418625"/>
            <a:ext cx="2788200" cy="3725100"/>
          </a:xfrm>
          <a:prstGeom prst="round2DiagRect">
            <a:avLst>
              <a:gd fmla="val 16667" name="adj1"/>
              <a:gd fmla="val 0" name="adj2"/>
            </a:avLst>
          </a:prstGeom>
        </p:spPr>
      </p:pic>
      <p:sp>
        <p:nvSpPr>
          <p:cNvPr id="758" name="Google Shape;758;p68"/>
          <p:cNvSpPr txBox="1"/>
          <p:nvPr>
            <p:ph type="title"/>
          </p:nvPr>
        </p:nvSpPr>
        <p:spPr>
          <a:xfrm>
            <a:off x="284700" y="312962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phase:</a:t>
            </a:r>
            <a:endParaRPr/>
          </a:p>
        </p:txBody>
      </p:sp>
      <p:sp>
        <p:nvSpPr>
          <p:cNvPr id="759" name="Google Shape;759;p68"/>
          <p:cNvSpPr/>
          <p:nvPr/>
        </p:nvSpPr>
        <p:spPr>
          <a:xfrm flipH="1" rot="-5400000">
            <a:off x="8850" y="106303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0" name="Google Shape;760;p68"/>
          <p:cNvSpPr txBox="1"/>
          <p:nvPr>
            <p:ph idx="1" type="body"/>
          </p:nvPr>
        </p:nvSpPr>
        <p:spPr>
          <a:xfrm>
            <a:off x="284700" y="1288675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Tasks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Full Pipeline Integration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Merge all modules in GitHub repository (Awsaf manages).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Check architecture compliance across components.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Testing &amp; Validation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Govind → Coordinate unit and integration testing standards.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All members → Perform user-like scenario testing: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Grade simulation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Attendance updates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Syllabus importing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3305900" y="4016327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Fully functional application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Final class demonstration build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Updated SRS + design document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8"/>
          <p:cNvSpPr txBox="1"/>
          <p:nvPr>
            <p:ph idx="1" type="body"/>
          </p:nvPr>
        </p:nvSpPr>
        <p:spPr>
          <a:xfrm>
            <a:off x="3191029" y="1372530"/>
            <a:ext cx="2859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Bug Fixing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Fix UI inconsistencies, schema mismatches, broken scraping cases, etc.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Documentation &amp; Presentation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Team → Prepare final presentation slides.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Write final report sections (Design, Implementation, Testing, Lessons Learned).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9"/>
          <p:cNvSpPr txBox="1"/>
          <p:nvPr>
            <p:ph idx="3" type="title"/>
          </p:nvPr>
        </p:nvSpPr>
        <p:spPr>
          <a:xfrm>
            <a:off x="284700" y="1166125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&amp; Post-Launch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our people stand and talk in an office environment. " id="768" name="Google Shape;768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1487" r="9321" t="0"/>
          <a:stretch/>
        </p:blipFill>
        <p:spPr>
          <a:xfrm rot="10800000">
            <a:off x="6364225" y="0"/>
            <a:ext cx="2784600" cy="3775800"/>
          </a:xfrm>
          <a:prstGeom prst="round1Rect">
            <a:avLst>
              <a:gd fmla="val 16667" name="adj"/>
            </a:avLst>
          </a:prstGeom>
        </p:spPr>
      </p:pic>
      <p:sp>
        <p:nvSpPr>
          <p:cNvPr id="769" name="Google Shape;769;p69"/>
          <p:cNvSpPr txBox="1"/>
          <p:nvPr>
            <p:ph type="title"/>
          </p:nvPr>
        </p:nvSpPr>
        <p:spPr>
          <a:xfrm>
            <a:off x="284700" y="392475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phase:</a:t>
            </a:r>
            <a:endParaRPr/>
          </a:p>
        </p:txBody>
      </p:sp>
      <p:sp>
        <p:nvSpPr>
          <p:cNvPr id="770" name="Google Shape;770;p69"/>
          <p:cNvSpPr/>
          <p:nvPr/>
        </p:nvSpPr>
        <p:spPr>
          <a:xfrm flipH="1" rot="-5400000">
            <a:off x="8850" y="126182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1" name="Google Shape;771;p69"/>
          <p:cNvSpPr txBox="1"/>
          <p:nvPr>
            <p:ph idx="4294967295" type="body"/>
          </p:nvPr>
        </p:nvSpPr>
        <p:spPr>
          <a:xfrm>
            <a:off x="284700" y="1780014"/>
            <a:ext cx="2859000" cy="91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Final edits to deliverables.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Write post-launch evaluation: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worked?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didn’t?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Recommendations for future developers.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Repository cleanup and tagging final release version.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Submit all deliverables to instructor.</a:t>
            </a:r>
            <a:endParaRPr/>
          </a:p>
        </p:txBody>
      </p:sp>
      <p:sp>
        <p:nvSpPr>
          <p:cNvPr id="772" name="Google Shape;772;p69"/>
          <p:cNvSpPr txBox="1"/>
          <p:nvPr>
            <p:ph idx="4294967295" type="body"/>
          </p:nvPr>
        </p:nvSpPr>
        <p:spPr>
          <a:xfrm>
            <a:off x="3236325" y="1750197"/>
            <a:ext cx="2859000" cy="91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Final written report (cleaned, professionally formatted)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GitHub release version 1.0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Project presentation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Lessons learned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70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Func/Non Func Requirements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1"/>
          <p:cNvSpPr txBox="1"/>
          <p:nvPr>
            <p:ph idx="1" type="subTitle"/>
          </p:nvPr>
        </p:nvSpPr>
        <p:spPr>
          <a:xfrm>
            <a:off x="3264413" y="2106527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Syllabi will be available in</a:t>
            </a:r>
            <a:r>
              <a:rPr lang="en"/>
              <a:t> .pdf or .docx format.</a:t>
            </a:r>
            <a:endParaRPr/>
          </a:p>
        </p:txBody>
      </p:sp>
      <p:sp>
        <p:nvSpPr>
          <p:cNvPr id="783" name="Google Shape;783;p71"/>
          <p:cNvSpPr txBox="1"/>
          <p:nvPr>
            <p:ph idx="2" type="subTitle"/>
          </p:nvPr>
        </p:nvSpPr>
        <p:spPr>
          <a:xfrm>
            <a:off x="3264413" y="334640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ata is compatible with a ASP.NET Core web application.</a:t>
            </a:r>
            <a:endParaRPr/>
          </a:p>
        </p:txBody>
      </p:sp>
      <p:sp>
        <p:nvSpPr>
          <p:cNvPr id="784" name="Google Shape;784;p71"/>
          <p:cNvSpPr txBox="1"/>
          <p:nvPr>
            <p:ph idx="3" type="subTitle"/>
          </p:nvPr>
        </p:nvSpPr>
        <p:spPr>
          <a:xfrm>
            <a:off x="6210938" y="334640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have access to the UTD eLearning API calls.</a:t>
            </a:r>
            <a:endParaRPr/>
          </a:p>
        </p:txBody>
      </p:sp>
      <p:sp>
        <p:nvSpPr>
          <p:cNvPr id="785" name="Google Shape;785;p71"/>
          <p:cNvSpPr txBox="1"/>
          <p:nvPr>
            <p:ph idx="4" type="subTitle"/>
          </p:nvPr>
        </p:nvSpPr>
        <p:spPr>
          <a:xfrm>
            <a:off x="6210938" y="2106527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legally allowed to access class information.</a:t>
            </a:r>
            <a:endParaRPr/>
          </a:p>
        </p:txBody>
      </p:sp>
      <p:sp>
        <p:nvSpPr>
          <p:cNvPr id="786" name="Google Shape;786;p71"/>
          <p:cNvSpPr txBox="1"/>
          <p:nvPr>
            <p:ph type="title"/>
          </p:nvPr>
        </p:nvSpPr>
        <p:spPr>
          <a:xfrm>
            <a:off x="3236625" y="329850"/>
            <a:ext cx="35571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2"/>
          <p:cNvSpPr/>
          <p:nvPr/>
        </p:nvSpPr>
        <p:spPr>
          <a:xfrm>
            <a:off x="1002725" y="474746"/>
            <a:ext cx="1879200" cy="489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Functional Requirements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2" name="Google Shape;792;p72"/>
          <p:cNvSpPr/>
          <p:nvPr/>
        </p:nvSpPr>
        <p:spPr>
          <a:xfrm>
            <a:off x="5903325" y="474749"/>
            <a:ext cx="1879200" cy="4890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Non Functional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3" name="Google Shape;793;p72"/>
          <p:cNvSpPr txBox="1"/>
          <p:nvPr/>
        </p:nvSpPr>
        <p:spPr>
          <a:xfrm>
            <a:off x="284700" y="208158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94" name="Google Shape;794;p72"/>
          <p:cNvSpPr txBox="1"/>
          <p:nvPr/>
        </p:nvSpPr>
        <p:spPr>
          <a:xfrm>
            <a:off x="284700" y="278693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82800" y="3307325"/>
            <a:ext cx="3391800" cy="17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allows for calculation of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existent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scores and potential scores needed for planning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allows for curves and dropping of scores prior to the final deadline for grades li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Tracking future assignments allows for future planning and increased utility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96" name="Google Shape;796;p72"/>
          <p:cNvSpPr txBox="1"/>
          <p:nvPr/>
        </p:nvSpPr>
        <p:spPr>
          <a:xfrm>
            <a:off x="373438" y="1059625"/>
            <a:ext cx="3748800" cy="16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product must be able to calculate the overall grade based on weights provided by the syllabus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product must handle a variety of grading schemes of professors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product must Keep track of assignments that will be submitted with reminders for all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72"/>
          <p:cNvSpPr txBox="1"/>
          <p:nvPr/>
        </p:nvSpPr>
        <p:spPr>
          <a:xfrm>
            <a:off x="4741275" y="1338900"/>
            <a:ext cx="43227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-2413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Scalability: the system should scale up and down to different operating systems; both laptops and mobile devices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413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Portability: should be  accessible/easy-to-use on platforms outside the main website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413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Reliability: the system should not crash when permissions or information are unavailable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98" name="Google Shape;798;p72"/>
          <p:cNvCxnSpPr/>
          <p:nvPr/>
        </p:nvCxnSpPr>
        <p:spPr>
          <a:xfrm>
            <a:off x="4652625" y="777400"/>
            <a:ext cx="13200" cy="3855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72"/>
          <p:cNvSpPr/>
          <p:nvPr/>
        </p:nvSpPr>
        <p:spPr>
          <a:xfrm>
            <a:off x="1039100" y="2724346"/>
            <a:ext cx="1879200" cy="489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Reasoning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00" name="Google Shape;800;p72"/>
          <p:cNvSpPr txBox="1"/>
          <p:nvPr/>
        </p:nvSpPr>
        <p:spPr>
          <a:xfrm>
            <a:off x="4741275" y="3325675"/>
            <a:ext cx="39903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(Both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and Portability Requirements) This increases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accessibility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providing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utility to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more users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would now provide fault tolerance against unauthorized data </a:t>
            </a: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access, ensuring correct usage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01" name="Google Shape;801;p72"/>
          <p:cNvSpPr/>
          <p:nvPr/>
        </p:nvSpPr>
        <p:spPr>
          <a:xfrm>
            <a:off x="5903325" y="2770583"/>
            <a:ext cx="1879200" cy="4890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Reasoning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4"/>
          <p:cNvSpPr txBox="1"/>
          <p:nvPr>
            <p:ph type="title"/>
          </p:nvPr>
        </p:nvSpPr>
        <p:spPr>
          <a:xfrm>
            <a:off x="5329300" y="886800"/>
            <a:ext cx="3577800" cy="378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USE-CASE DIAGRAM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Student is main actor</a:t>
            </a:r>
            <a:br>
              <a:rPr b="1"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Adds classes, enters grades, scans syllabus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Instructor/e-Learning provides syllabus</a:t>
            </a:r>
            <a:br>
              <a:rPr b="1"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System extracts weighting + class structure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Core features</a:t>
            </a:r>
            <a:br>
              <a:rPr b="1"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Grade calculator, GPA calculator, future grade estimate, reminders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System goal</a:t>
            </a:r>
            <a:br>
              <a:rPr b="1" lang="en" sz="1200"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latin typeface="Arial"/>
                <a:ea typeface="Arial"/>
                <a:cs typeface="Arial"/>
                <a:sym typeface="Arial"/>
              </a:rPr>
              <a:t>End-to-end grade tracking based on syllabus data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2" name="Google Shape;81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0" y="654762"/>
            <a:ext cx="5420600" cy="364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6"/>
          <p:cNvSpPr txBox="1"/>
          <p:nvPr/>
        </p:nvSpPr>
        <p:spPr>
          <a:xfrm>
            <a:off x="1614434" y="286199"/>
            <a:ext cx="6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Calculate Class Grade: Takes the grades for submitted assignments weighted by the class grading scales and returns the weighted grade for the class.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23" name="Google Shape;823;p76"/>
          <p:cNvPicPr preferRelativeResize="0"/>
          <p:nvPr/>
        </p:nvPicPr>
        <p:blipFill rotWithShape="1">
          <a:blip r:embed="rId3">
            <a:alphaModFix/>
          </a:blip>
          <a:srcRect b="12476" l="8071" r="6691" t="14005"/>
          <a:stretch/>
        </p:blipFill>
        <p:spPr>
          <a:xfrm>
            <a:off x="1655160" y="948633"/>
            <a:ext cx="6368869" cy="41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7"/>
          <p:cNvSpPr txBox="1"/>
          <p:nvPr/>
        </p:nvSpPr>
        <p:spPr>
          <a:xfrm>
            <a:off x="284700" y="286200"/>
            <a:ext cx="85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Course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Adds an additional course, asking for gradings scales as well as assignments and their grades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29" name="Google Shape;829;p77"/>
          <p:cNvPicPr preferRelativeResize="0"/>
          <p:nvPr/>
        </p:nvPicPr>
        <p:blipFill rotWithShape="1">
          <a:blip r:embed="rId3">
            <a:alphaModFix/>
          </a:blip>
          <a:srcRect b="13085" l="7200" r="6257" t="11579"/>
          <a:stretch/>
        </p:blipFill>
        <p:spPr>
          <a:xfrm>
            <a:off x="1781137" y="686400"/>
            <a:ext cx="5768825" cy="440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9"/>
          <p:cNvSpPr txBox="1"/>
          <p:nvPr>
            <p:ph type="title"/>
          </p:nvPr>
        </p:nvSpPr>
        <p:spPr>
          <a:xfrm>
            <a:off x="4870050" y="990900"/>
            <a:ext cx="4028400" cy="3866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main actor; manages dashboard, classes, reminders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Course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stores class info; handles grade + attendance logic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Assignment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tracks individual assignments &amp; weighted grades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Syllabus Scraper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extracts weights and assignments from syllabus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calculates attendance percentage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Grading Scheme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applies weight mappings to compute cumulative grades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Dashboard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 displays grades, GPA, reminders, upcoming tasks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25" y="990900"/>
            <a:ext cx="4649026" cy="337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80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Architectural Design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81"/>
          <p:cNvSpPr txBox="1"/>
          <p:nvPr>
            <p:ph type="title"/>
          </p:nvPr>
        </p:nvSpPr>
        <p:spPr>
          <a:xfrm>
            <a:off x="4731775" y="474750"/>
            <a:ext cx="4167000" cy="3987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Architectural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Design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System uses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MVC architecture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for clean separation of logic from View, Model, to Controller.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Best suited for Web Applications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validates input, manages auth/session, routes requests and triggers model updates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renders dashboard, class pages, attendance views; handles uploads &amp; API responses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contains business logic (grades, attendance, assignments, syllabus parsing, data access)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student action → controller processes → model computes → view updates with new data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81" title="MVC Architectur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5" y="286200"/>
            <a:ext cx="4616900" cy="42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Ask away!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3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